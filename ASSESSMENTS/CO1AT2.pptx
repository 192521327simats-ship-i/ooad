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EE0FE0B-7BA2-A97E-261E-8BBB78484AF5}">
          <p14:sldIdLst>
            <p14:sldId id="256"/>
            <p14:sldId id="257"/>
          </p14:sldIdLst>
        </p14:section>
        <p14:section name="Analysis" id="{4C078F70-8AC7-4780-AF5F-4ED028E7A2A8}">
          <p14:sldIdLst>
            <p14:sldId id="258"/>
          </p14:sldIdLst>
        </p14:section>
        <p14:section name="Design" id="{517F3DEF-E0DB-791F-DF64-0FBE23A13084}">
          <p14:sldIdLst>
            <p14:sldId id="259"/>
            <p14:sldId id="260"/>
            <p14:sldId id="261"/>
          </p14:sldIdLst>
        </p14:section>
        <p14:section name="Conclusion" id="{BDD8DACD-A0F6-A80B-6A59-463CA7AD9D2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0335A7-A361-44DC-B648-09A3B04C5301}" v="61" dt="2026-10-08T04:09:57.943"/>
    <p1510:client id="{B396E660-0DE3-4F22-9B72-68D82DC1AF34}" v="1" dt="2026-10-08T04:01:38.121"/>
    <p1510:client id="{DE7A91E4-2992-4ABC-BA91-1191A33733F7}" v="4" dt="2026-10-08T04:10:56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F8D48-F8D2-446E-9210-0CE329521A45}" type="datetimeFigureOut"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6AE22-A769-4C87-A29B-A827DD193E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7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246120"/>
            <a:ext cx="4572000" cy="18288"/>
          </a:xfrm>
          <a:prstGeom prst="rect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77240"/>
            <a:ext cx="11091672" cy="1828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606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Object-Oriented Design in Smart Healthcare Systems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474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Class, Object, Encapsulation, Inheritance and Polymorphism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Object-Oriented Analysis and Design (OOAD)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Case study: Patients, Doctors, Appointments and Medical Records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Introduction and OOAD Approach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Smart Healthcare System digitises hospital operations: patient registration, doctor scheduling, appointment booking and electronic medical records. Such software must protect sensitive data, serve many users and adapt to change, which makes object-oriented analysis and design a natural fit.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real-world entities as classes and objects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Apply encapsulation, inheritance and polymorphism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 scalability, security and maintainability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97280"/>
          <a:ext cx="5239512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Entity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 in the system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Patient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Registers, books visits, views own records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Doctor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Manages schedule, diagnoses, updates records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Appointment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Links a patient and a doctor at a set time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Medical Record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Holds diagnosis, prescriptions and reports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OOAD stages applied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526280"/>
            <a:ext cx="3566160" cy="1234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63600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Analysis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actors, requirements and use cases; build the domain model.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1396" y="4526280"/>
            <a:ext cx="3566160" cy="1234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48556" y="463600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Design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Define classes, attributes, methods and relationships; apply OO principles.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74152" y="4526280"/>
            <a:ext cx="3566160" cy="1234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11312" y="463600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Implementation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Code the classes in Java or Python, create objects, test and extend.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Use Case Diagram: Smart Healthcare System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377440" y="960120"/>
            <a:ext cx="7406640" cy="5212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377440" y="1005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Smart Healthcare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4206240" y="2240280"/>
            <a:ext cx="0" cy="292608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4206240" y="3172968"/>
            <a:ext cx="0" cy="292608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297680" y="2267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«include»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«extend»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flipV="1">
            <a:off x="1463040" y="1920240"/>
            <a:ext cx="1143000" cy="164592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463040" y="2852928"/>
            <a:ext cx="1143000" cy="713232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3566160"/>
            <a:ext cx="1143000" cy="219456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3566160"/>
            <a:ext cx="1143000" cy="115214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3566160"/>
            <a:ext cx="1143000" cy="2084832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 flipV="1">
            <a:off x="9555480" y="1920240"/>
            <a:ext cx="1143000" cy="8229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555480" y="2743200"/>
            <a:ext cx="1143000" cy="109728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9555480" y="2743200"/>
            <a:ext cx="1143000" cy="1042416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9555480" y="2743200"/>
            <a:ext cx="1143000" cy="197510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9555480" y="5120640"/>
            <a:ext cx="1143000" cy="530352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600200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Register / Login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2532888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Book Appointment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06040" y="3465576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Cancel / Reschedule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06040" y="4398264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View Medical Records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06040" y="5330952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Make Payment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600200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Manage Schedule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532888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View Patient History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465576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Update Medical Record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398264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Issue Prescription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5330952"/>
            <a:ext cx="3200400" cy="6400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Manage Users &amp; Reports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3447288"/>
            <a:ext cx="0" cy="411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3566160"/>
            <a:ext cx="5486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960120" y="3858768"/>
            <a:ext cx="228600" cy="3200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3858768"/>
            <a:ext cx="228600" cy="3200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Patient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835640" y="2350008"/>
            <a:ext cx="274320" cy="2743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0" y="2624328"/>
            <a:ext cx="0" cy="411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98480" y="2743200"/>
            <a:ext cx="5486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10744200" y="3035808"/>
            <a:ext cx="228600" cy="3200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0" y="3035808"/>
            <a:ext cx="228600" cy="3200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4128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Doctor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835640" y="4727448"/>
            <a:ext cx="274320" cy="2743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0" y="5001768"/>
            <a:ext cx="0" cy="4114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98480" y="5120640"/>
            <a:ext cx="5486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10744200" y="5413248"/>
            <a:ext cx="228600" cy="3200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0" y="5413248"/>
            <a:ext cx="228600" cy="3200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41280" y="5779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Administrator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Domain Model: Classes, Objects and Relationships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46120" y="1051560"/>
            <a:ext cx="2194560" cy="36576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chemeClr val="bg1"/>
                </a:solidFill>
              </a:rPr>
              <a:t>«abstract» User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46120" y="1417320"/>
            <a:ext cx="219456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55848" y="147218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userId :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name :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+ login() : boolean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286000" cy="36576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Patient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16382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patientId :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history : List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+ bookAppointment()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43200"/>
            <a:ext cx="2286000" cy="36576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Doctor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3108960"/>
            <a:ext cx="228600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18688" y="316382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speciality :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schedule : List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+ updateRecord()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743200"/>
            <a:ext cx="2286000" cy="36576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Administrator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3108960"/>
            <a:ext cx="228600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79008" y="316382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adminLevel : 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+ manageUsers()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+ generateReport()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572000"/>
            <a:ext cx="2286000" cy="36576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Appointment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937760"/>
            <a:ext cx="2286000" cy="10607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81328" y="4992624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appointmentId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dateTime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status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+ confirm() / cancel()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4572000"/>
            <a:ext cx="2286000" cy="36576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MedicalRecord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4937760"/>
            <a:ext cx="2286000" cy="10607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4608" y="4992624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diagnosis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prescriptions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- reports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+ getSummary()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flipV="1">
            <a:off x="1691640" y="2240280"/>
            <a:ext cx="2651760" cy="50292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4251960" y="2240280"/>
            <a:ext cx="91440" cy="50292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 flipV="1">
            <a:off x="4343400" y="2240280"/>
            <a:ext cx="2468880" cy="50292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91640" y="3931920"/>
            <a:ext cx="502920" cy="6400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3017520" y="3931920"/>
            <a:ext cx="1005840" cy="6400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931920"/>
            <a:ext cx="1005840" cy="6400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5285232"/>
            <a:ext cx="109728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31620" y="4123944"/>
            <a:ext cx="777240" cy="256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31620" y="41239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</a:rPr>
              <a:t>books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31820" y="4123944"/>
            <a:ext cx="777240" cy="256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31820" y="41239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</a:rPr>
              <a:t>attends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60620" y="4123944"/>
            <a:ext cx="777240" cy="256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60620" y="41239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</a:rPr>
              <a:t>updates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40480" y="5157216"/>
            <a:ext cx="731520" cy="256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40480" y="51572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</a:rPr>
              <a:t>generates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0" y="1005840"/>
            <a:ext cx="0" cy="50292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03920" y="1051560"/>
            <a:ext cx="313639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blueprint defining the attributes and methods of an entity, such as Patient.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Object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runtime instance with its own state, such as p1 : Patient (P101, Arun).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Relationships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Inheritance (is-a) from User; associations between Patient, Doctor, Appointment and MedicalRecord.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Encapsulation, Inheritance and Polymorphism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Encapsulation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Binds data and methods in one class and hides internal state behind a public interface.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Diagnosis and prescriptions are private fields of MedicalRecord.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getDiagnosis() checks the user role before returning data.</a:t>
            </a:r>
            <a:endParaRPr lang="en-US" sz="1400" dirty="0"/>
          </a:p>
          <a:p>
            <a:pPr marL="0" indent="0"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Inheritance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child class acquires the attributes and methods of a parent class (is-a relationship).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Patient, Doctor and Administrator extend User and inherit login().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Surgeon and General Physician extend Doctor and add their own behaviour.</a:t>
            </a:r>
            <a:endParaRPr lang="en-US" sz="1400" dirty="0"/>
          </a:p>
          <a:p>
            <a:pPr marL="0" indent="0"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Polymorphism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interface, many forms: the same call behaves differently depending on the object type.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send() is overridden by SMSNotification and EmailNotification.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bookAppointment() is overloaded to accept either a doctor or a speciality.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Impact on Scalability, Security and Maintainability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Scalability</a:t>
            </a:r>
            <a:endParaRPr lang="en-US" sz="2400">
              <a:solidFill>
                <a:schemeClr val="tx2"/>
              </a:solidFill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Easy to extend:</a:t>
            </a:r>
            <a:r>
              <a:rPr lang="en-US" sz="1400">
                <a:ea typeface="+mn-lt"/>
                <a:cs typeface="+mn-lt"/>
              </a:rPr>
              <a:t> New roles like Nurse or Pharmacist can be added by extending the existing </a:t>
            </a:r>
            <a:r>
              <a:rPr lang="en-US" sz="1400">
                <a:latin typeface="Times New Roman"/>
                <a:cs typeface="Times New Roman"/>
              </a:rPr>
              <a:t>User</a:t>
            </a:r>
            <a:r>
              <a:rPr lang="en-US" sz="1400">
                <a:ea typeface="+mn-lt"/>
                <a:cs typeface="+mn-lt"/>
              </a:rPr>
              <a:t> class. </a:t>
            </a:r>
            <a:endParaRPr lang="en-US"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Easy to expand:</a:t>
            </a:r>
            <a:r>
              <a:rPr lang="en-US" sz="1400">
                <a:ea typeface="+mn-lt"/>
                <a:cs typeface="+mn-lt"/>
              </a:rPr>
              <a:t> New features like Telemedicine, payments, or notifications can be added independently without changing the whole system.</a:t>
            </a:r>
            <a:endParaRPr lang="en-US"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en-US" sz="1400" dirty="0"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400" b="1">
                <a:solidFill>
                  <a:schemeClr val="tx2"/>
                </a:solidFill>
              </a:rPr>
              <a:t>Security</a:t>
            </a:r>
            <a:endParaRPr lang="en-US" sz="2400" b="1">
              <a:solidFill>
                <a:schemeClr val="tx2"/>
              </a:solidFill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Encapsulation</a:t>
            </a:r>
            <a:r>
              <a:rPr lang="en-US" sz="1400" dirty="0">
                <a:ea typeface="+mn-lt"/>
                <a:cs typeface="+mn-lt"/>
              </a:rPr>
              <a:t> keeps patient data such as diagnoses and prescriptions private; it can be accessed only through methods that check the user's role.</a:t>
            </a:r>
            <a:endParaRPr lang="en-US"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Shared login logic inherited from User and controlled interfaces reduce the chance of </a:t>
            </a:r>
            <a:r>
              <a:rPr lang="en-US" sz="1400" dirty="0" err="1">
                <a:ea typeface="+mn-lt"/>
                <a:cs typeface="+mn-lt"/>
              </a:rPr>
              <a:t>unauthorised</a:t>
            </a:r>
            <a:r>
              <a:rPr lang="en-US" sz="1400" dirty="0">
                <a:ea typeface="+mn-lt"/>
                <a:cs typeface="+mn-lt"/>
              </a:rPr>
              <a:t> access.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Maintainability</a:t>
            </a:r>
            <a:endParaRPr lang="en-US" sz="2400">
              <a:solidFill>
                <a:schemeClr val="tx2"/>
              </a:solidFill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Each class has one clear job, so faults are easy to </a:t>
            </a:r>
            <a:r>
              <a:rPr lang="en-US" sz="1400" dirty="0" err="1">
                <a:ea typeface="+mn-lt"/>
                <a:cs typeface="+mn-lt"/>
              </a:rPr>
              <a:t>find</a:t>
            </a:r>
            <a:r>
              <a:rPr lang="en-US" sz="1400" dirty="0">
                <a:ea typeface="+mn-lt"/>
                <a:cs typeface="+mn-lt"/>
              </a:rPr>
              <a:t> and classes can be tested separately. A change, such as a new consultation fee, stays inside one class.</a:t>
            </a:r>
            <a:endParaRPr lang="en-US">
              <a:ea typeface="+mn-lt"/>
              <a:cs typeface="+mn-lt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Inheritance removes duplicated code, and new </a:t>
            </a:r>
            <a:r>
              <a:rPr lang="en-US" sz="1400" dirty="0" err="1">
                <a:ea typeface="+mn-lt"/>
                <a:cs typeface="+mn-lt"/>
              </a:rPr>
              <a:t>behaviour</a:t>
            </a:r>
            <a:r>
              <a:rPr lang="en-US" sz="1400" dirty="0">
                <a:ea typeface="+mn-lt"/>
                <a:cs typeface="+mn-lt"/>
              </a:rPr>
              <a:t> can be added without changing existing code (Open/Closed Principle).</a:t>
            </a:r>
            <a:endParaRPr lang="en-US">
              <a:ea typeface="+mn-lt"/>
              <a:cs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400" dirty="0"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spcAft>
                <a:spcPts val="1600"/>
              </a:spcAft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Object-oriented analysis and design provides a natural way to build a Smart Healthcare System. </a:t>
            </a:r>
            <a:endParaRPr lang="en-US" sz="1600" dirty="0">
              <a:ea typeface="+mn-lt"/>
              <a:cs typeface="+mn-lt"/>
            </a:endParaRPr>
          </a:p>
          <a:p>
            <a:pPr marL="285750" indent="-285750" algn="just">
              <a:spcAft>
                <a:spcPts val="1600"/>
              </a:spcAft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Classes and objects map real entities such as patients, doctors, appointments and medical records directly into software, giving the system a clear and understandable structure.</a:t>
            </a:r>
            <a:endParaRPr lang="en-US" sz="1600" dirty="0">
              <a:ea typeface="+mn-lt"/>
              <a:cs typeface="+mn-lt"/>
            </a:endParaRPr>
          </a:p>
          <a:p>
            <a:pPr marL="285750" indent="-285750" algn="just">
              <a:spcAft>
                <a:spcPts val="1600"/>
              </a:spcAft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 Encapsulation protects confidential medical data, inheritance promotes the reuse of common </a:t>
            </a:r>
            <a:r>
              <a:rPr lang="en-US" sz="1600" dirty="0" err="1">
                <a:ea typeface="+mn-lt"/>
                <a:cs typeface="+mn-lt"/>
              </a:rPr>
              <a:t>behaviour</a:t>
            </a:r>
            <a:r>
              <a:rPr lang="en-US" sz="1600" dirty="0">
                <a:ea typeface="+mn-lt"/>
                <a:cs typeface="+mn-lt"/>
              </a:rPr>
              <a:t>, and polymorphism allows new services to be added with minimal change. </a:t>
            </a:r>
          </a:p>
          <a:p>
            <a:pPr marL="285750" indent="-285750" algn="just">
              <a:spcAft>
                <a:spcPts val="1600"/>
              </a:spcAft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Together, these concepts make the system scalable, secure and maintainable.</a:t>
            </a:r>
            <a:endParaRPr lang="en-US" sz="1600" dirty="0">
              <a:ea typeface="+mn-lt"/>
              <a:cs typeface="+mn-lt"/>
            </a:endParaRPr>
          </a:p>
          <a:p>
            <a:r>
              <a:rPr lang="en-US" b="1">
                <a:solidFill>
                  <a:schemeClr val="tx2"/>
                </a:solidFill>
                <a:ea typeface="+mn-lt"/>
                <a:cs typeface="+mn-lt"/>
              </a:rPr>
              <a:t>FUTURE ENHANCEMENT :</a:t>
            </a:r>
            <a:endParaRPr lang="en-US">
              <a:solidFill>
                <a:schemeClr val="tx2"/>
              </a:solidFill>
              <a:ea typeface="+mn-lt"/>
              <a:cs typeface="+mn-lt"/>
            </a:endParaRPr>
          </a:p>
          <a:p>
            <a:endParaRPr lang="en-US" b="1" dirty="0">
              <a:solidFill>
                <a:schemeClr val="tx2"/>
              </a:solidFill>
              <a:ea typeface="+mn-lt"/>
              <a:cs typeface="+mn-lt"/>
            </a:endParaRPr>
          </a:p>
          <a:p>
            <a:pPr algn="just"/>
            <a:r>
              <a:rPr lang="en-US" sz="1600">
                <a:solidFill>
                  <a:schemeClr val="accent2"/>
                </a:solidFill>
                <a:ea typeface="+mn-lt"/>
                <a:cs typeface="+mn-lt"/>
              </a:rPr>
              <a:t>    future, the system can be extended with telemedicine, wearable-device integration and AI-assisted diagnosis support. Each of these can be introduced as new classes without disturbing the existing design.</a:t>
            </a:r>
            <a:endParaRPr lang="en-US">
              <a:solidFill>
                <a:schemeClr val="accent2"/>
              </a:solidFill>
            </a:endParaRPr>
          </a:p>
          <a:p>
            <a:pPr algn="just">
              <a:spcAft>
                <a:spcPts val="1600"/>
              </a:spcAft>
            </a:pPr>
            <a:endParaRPr lang="en-US" sz="1600" dirty="0">
              <a:solidFill>
                <a:schemeClr val="accent2"/>
              </a:solidFill>
              <a:ea typeface="+mn-lt"/>
              <a:cs typeface="+mn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Navy">
  <a:themeElements>
    <a:clrScheme name="Academic Navy">
      <a:dk1>
        <a:srgbClr val="222222"/>
      </a:dk1>
      <a:lt1>
        <a:srgbClr val="FFFFFF"/>
      </a:lt1>
      <a:dk2>
        <a:srgbClr val="1F3864"/>
      </a:dk2>
      <a:lt2>
        <a:srgbClr val="F2F2F2"/>
      </a:lt2>
      <a:accent1>
        <a:srgbClr val="1F3864"/>
      </a:accent1>
      <a:accent2>
        <a:srgbClr val="2F5597"/>
      </a:accent2>
      <a:accent3>
        <a:srgbClr val="7F7F7F"/>
      </a:accent3>
      <a:accent4>
        <a:srgbClr val="A6A6A6"/>
      </a:accent4>
      <a:accent5>
        <a:srgbClr val="44546A"/>
      </a:accent5>
      <a:accent6>
        <a:srgbClr val="8497B0"/>
      </a:accent6>
      <a:hlink>
        <a:srgbClr val="2F5597"/>
      </a:hlink>
      <a:folHlink>
        <a:srgbClr val="7F7F7F"/>
      </a:folHlink>
    </a:clrScheme>
    <a:fontScheme name="Academic Navy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Academic Navy</vt:lpstr>
      <vt:lpstr>PowerPoint Presentation</vt:lpstr>
      <vt:lpstr>Introduction and OOAD Approach</vt:lpstr>
      <vt:lpstr>Use Case Diagram: Smart Healthcare System</vt:lpstr>
      <vt:lpstr>Domain Model: Classes, Objects and Relationships</vt:lpstr>
      <vt:lpstr>Encapsulation, Inheritance and Polymorphism</vt:lpstr>
      <vt:lpstr>Impact on Scalability, Security and Maintainability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Design in Smart Healthcare Systems</dc:title>
  <dc:subject>PptxGenJS Presentation</dc:subject>
  <dc:creator>PptxGenJS</dc:creator>
  <cp:lastModifiedBy>PptxGenJS</cp:lastModifiedBy>
  <cp:revision>30</cp:revision>
  <dcterms:created xsi:type="dcterms:W3CDTF">2026-10-08T03:59:59Z</dcterms:created>
  <dcterms:modified xsi:type="dcterms:W3CDTF">2026-10-08T04:11:37Z</dcterms:modified>
</cp:coreProperties>
</file>